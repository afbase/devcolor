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OWASP Top 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2EC4B6"/>
                </a:solidFill>
                <a:latin typeface="Arial"/>
              </a:rPr>
              <a:t>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7033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ECEFF4"/>
                </a:solidFill>
                <a:latin typeface="Arial"/>
              </a:rPr>
              <a:t>The ten most critical web application security risks — </a:t>
            </a:r>
            <a:r>
              <a:rPr sz="2200" b="1">
                <a:solidFill>
                  <a:srgbClr val="FFFFFF"/>
                </a:solidFill>
                <a:latin typeface="Arial"/>
              </a:rPr>
              <a:t>explained, broken, and fixed in an hour.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0292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0C8"/>
                </a:solidFill>
                <a:latin typeface="Arial"/>
              </a:rPr>
              <a:t>A hands-on session for engineers.  Slides + a companion repo you run on your laptop.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EC4B6"/>
                </a:solidFill>
                <a:latin typeface="Arial"/>
              </a:rPr>
              <a:t>Source: owasp.org/Top10/2025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C4B6"/>
                </a:solidFill>
                <a:latin typeface="Arial"/>
              </a:rPr>
              <a:t>   </a:t>
            </a:r>
            <a:r>
              <a:rPr sz="2400" b="1">
                <a:solidFill>
                  <a:srgbClr val="FFFFFF"/>
                </a:solidFill>
                <a:latin typeface="Arial"/>
              </a:rPr>
              <a:t>Why this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22833"/>
                </a:solidFill>
                <a:latin typeface="Arial"/>
              </a:rPr>
              <a:t>Security isn't a separate job — it's a property of the code you already write. </a:t>
            </a:r>
            <a:r>
              <a:rPr sz="1900" b="1">
                <a:solidFill>
                  <a:srgbClr val="222833"/>
                </a:solidFill>
                <a:latin typeface="Arial"/>
              </a:rPr>
              <a:t>This hour makes the ten most common failure modes concrete.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2697480" cy="2926080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2697480" cy="640080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See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17520"/>
            <a:ext cx="229514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Every category has a working exploit you can run in one command.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2194560"/>
            <a:ext cx="2697480" cy="2926080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64992" y="2194560"/>
            <a:ext cx="2697480" cy="64008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219456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Understand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17520"/>
            <a:ext cx="229514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The broken code and the fix sit side by side, with comments.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194560"/>
            <a:ext cx="2697480" cy="2926080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7064" y="2194560"/>
            <a:ext cx="269748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219456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017520"/>
            <a:ext cx="229514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The fix is shown in the smallest honest form — the idea, not a library.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2194560"/>
            <a:ext cx="2697480" cy="2926080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89136" y="2194560"/>
            <a:ext cx="2697480" cy="64008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219456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Prove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3017520"/>
            <a:ext cx="229514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A test exploits the flaw, then proves the fix holds. 74 tests, all green.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2833"/>
                </a:solidFill>
                <a:latin typeface="Arial"/>
              </a:rPr>
              <a:t>The mental model for all ten:  </a:t>
            </a:r>
            <a:r>
              <a:rPr sz="1700" b="0">
                <a:solidFill>
                  <a:srgbClr val="5B6372"/>
                </a:solidFill>
                <a:latin typeface="Arial"/>
              </a:rPr>
              <a:t>untrusted input crossing a trust boundary.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C4B6"/>
                </a:solidFill>
                <a:latin typeface="Arial"/>
              </a:rPr>
              <a:t>   </a:t>
            </a:r>
            <a:r>
              <a:rPr sz="2400" b="1">
                <a:solidFill>
                  <a:srgbClr val="FFFFFF"/>
                </a:solidFill>
                <a:latin typeface="Arial"/>
              </a:rPr>
              <a:t>How the companion repo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22833"/>
                </a:solidFill>
                <a:latin typeface="Arial"/>
              </a:rPr>
              <a:t>Every category is mounted twice. Send the same request to both and diff the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/vuln/aNN   — broken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965960"/>
            <a:ext cx="274320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6596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/safe/aNN   — fixed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51760"/>
            <a:ext cx="11155680" cy="19659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16352"/>
            <a:ext cx="10698480" cy="1636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terminal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npm install &amp;&amp; npm run doctor &amp;&amp; npm start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  OWASP Top 10:2025 lab -&gt; http://localhost:3000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npm test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EC4B6"/>
                </a:solidFill>
                <a:latin typeface="Consolas"/>
              </a:rPr>
              <a:t>  # tests 74   # pass 74   # fail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22833"/>
                </a:solidFill>
                <a:latin typeface="Arial"/>
              </a:rPr>
              <a:t>For each category:  </a:t>
            </a:r>
            <a:r>
              <a:rPr sz="1600" b="0">
                <a:solidFill>
                  <a:srgbClr val="2E7D32"/>
                </a:solidFill>
                <a:latin typeface="Consolas"/>
              </a:rPr>
              <a:t>labs/aNN/README.md</a:t>
            </a:r>
            <a:r>
              <a:rPr sz="1600" b="0">
                <a:solidFill>
                  <a:srgbClr val="222833"/>
                </a:solidFill>
                <a:latin typeface="Arial"/>
              </a:rPr>
              <a:t>  walks you through </a:t>
            </a:r>
            <a:r>
              <a:rPr sz="1600" b="1">
                <a:solidFill>
                  <a:srgbClr val="222833"/>
                </a:solidFill>
                <a:latin typeface="Arial"/>
              </a:rPr>
              <a:t>Break it -&gt; Read it -&gt; Fix it -&gt; Prove it,</a:t>
            </a:r>
            <a:r>
              <a:rPr sz="1600" b="0">
                <a:solidFill>
                  <a:srgbClr val="222833"/>
                </a:solidFill>
                <a:latin typeface="Arial"/>
              </a:rPr>
              <a:t>  and ends with a </a:t>
            </a:r>
            <a:r>
              <a:rPr sz="1600" b="1">
                <a:solidFill>
                  <a:srgbClr val="222833"/>
                </a:solidFill>
                <a:latin typeface="Arial"/>
              </a:rPr>
              <a:t>“spot it in code review”</a:t>
            </a:r>
            <a:r>
              <a:rPr sz="1600" b="0">
                <a:solidFill>
                  <a:srgbClr val="222833"/>
                </a:solidFill>
                <a:latin typeface="Arial"/>
              </a:rPr>
              <a:t> checklist you can use at work on Monday.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D13B3B"/>
                </a:solidFill>
                <a:latin typeface="Arial"/>
              </a:rPr>
              <a:t>Deliberately vulnerable — it binds to localhost only. Never deploy it or point it at real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C4B6"/>
                </a:solidFill>
                <a:latin typeface="Arial"/>
              </a:rPr>
              <a:t>   </a:t>
            </a:r>
            <a:r>
              <a:rPr sz="2400" b="1">
                <a:solidFill>
                  <a:srgbClr val="FFFFFF"/>
                </a:solidFill>
                <a:latin typeface="Arial"/>
              </a:rPr>
              <a:t>How the list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Data-informed, not blindly data-driven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697480" cy="1554480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EC4B6"/>
                </a:solidFill>
                <a:latin typeface="Arial"/>
              </a:rPr>
              <a:t>2.8M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FF4"/>
                </a:solidFill>
                <a:latin typeface="Arial"/>
              </a:rPr>
              <a:t>applications analysed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697480" cy="1554480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55448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EC4B6"/>
                </a:solidFill>
                <a:latin typeface="Arial"/>
              </a:rPr>
              <a:t>~175k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3317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FF4"/>
                </a:solidFill>
                <a:latin typeface="Arial"/>
              </a:rPr>
              <a:t>CVE records (up from 125k)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417320"/>
            <a:ext cx="2697480" cy="1554480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155448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EC4B6"/>
                </a:solidFill>
                <a:latin typeface="Arial"/>
              </a:rPr>
              <a:t>643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3317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FF4"/>
                </a:solidFill>
                <a:latin typeface="Arial"/>
              </a:rPr>
              <a:t>unique CWEs mapped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1417320"/>
            <a:ext cx="2697480" cy="1554480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155448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2EC4B6"/>
                </a:solidFill>
                <a:latin typeface="Arial"/>
              </a:rPr>
              <a:t>8 + 2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23317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FF4"/>
                </a:solidFill>
                <a:latin typeface="Arial"/>
              </a:rPr>
              <a:t>from data + community survey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1155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22833"/>
                </a:solidFill>
                <a:latin typeface="Arial"/>
              </a:rPr>
              <a:t>Eight categories come from the contributed data — how often each weakness actually appears in tested apps.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22833"/>
                </a:solidFill>
                <a:latin typeface="Arial"/>
              </a:rPr>
              <a:t>Two come from a community survey of AppSec practitioners, to capture risks the data can't see yet.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>
                <a:solidFill>
                  <a:srgbClr val="222833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22833"/>
                </a:solidFill>
                <a:latin typeface="Arial"/>
              </a:rPr>
              <a:t>Why the survey?  </a:t>
            </a:r>
            <a:r>
              <a:rPr sz="1700" b="0">
                <a:solidFill>
                  <a:srgbClr val="5B6372"/>
                </a:solidFill>
                <a:latin typeface="Arial"/>
              </a:rPr>
              <a:t>Testing data looks backwards. It takes years for a new class of attack to become something tools can detect at scale. The survey asks the people on the front line what they're seeing now.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>
                <a:solidFill>
                  <a:srgbClr val="222833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22833"/>
                </a:solidFill>
                <a:latin typeface="Arial"/>
              </a:rPr>
              <a:t>Survey-driven this year:  </a:t>
            </a:r>
            <a:r>
              <a:rPr sz="1600" b="1">
                <a:solidFill>
                  <a:srgbClr val="E88A1A"/>
                </a:solidFill>
                <a:latin typeface="Arial"/>
              </a:rPr>
              <a:t>A03 Software Supply Chain Failures</a:t>
            </a:r>
            <a:r>
              <a:rPr sz="1600" b="0">
                <a:solidFill>
                  <a:srgbClr val="5B6372"/>
                </a:solidFill>
                <a:latin typeface="Arial"/>
              </a:rPr>
              <a:t>  and  </a:t>
            </a:r>
            <a:r>
              <a:rPr sz="1600" b="1">
                <a:solidFill>
                  <a:srgbClr val="E88A1A"/>
                </a:solidFill>
                <a:latin typeface="Arial"/>
              </a:rPr>
              <a:t>A09 Security Logging &amp; Alerting Failures.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C4B6"/>
                </a:solidFill>
                <a:latin typeface="Arial"/>
              </a:rPr>
              <a:t>   </a:t>
            </a:r>
            <a:r>
              <a:rPr sz="2400" b="1">
                <a:solidFill>
                  <a:srgbClr val="FFFFFF"/>
                </a:solidFill>
                <a:latin typeface="Arial"/>
              </a:rPr>
              <a:t>What changed from 2021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83112" cy="51206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Arial"/>
              </a:rPr>
              <a:t>A01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25880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Broken Access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25880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Consolas"/>
              </a:rPr>
              <a:t>#1  → 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325880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unchanged; SSRF folded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37943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Arial"/>
              </a:rPr>
              <a:t>A02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37943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Security Misconfiguration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37943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Consolas"/>
              </a:rPr>
              <a:t>#5  → 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37943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biggest mover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50008"/>
            <a:ext cx="11183112" cy="51206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50008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Arial"/>
              </a:rPr>
              <a:t>A03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50008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Software Supply Chain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50008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88A1A"/>
                </a:solidFill>
                <a:latin typeface="Consolas"/>
              </a:rPr>
              <a:t>NEW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350008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expanded from “Vulnerable Components”; #1 in survey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62072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Arial"/>
              </a:rPr>
              <a:t>A04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862072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Cryptographic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62072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13B3B"/>
                </a:solidFill>
                <a:latin typeface="Consolas"/>
              </a:rPr>
              <a:t>#2  →  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62072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down two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74136"/>
            <a:ext cx="11183112" cy="51206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74136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Arial"/>
              </a:rPr>
              <a:t>A05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374136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Injection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74136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13B3B"/>
                </a:solidFill>
                <a:latin typeface="Consolas"/>
              </a:rPr>
              <a:t>#3  →  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74136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down two; XSS lives 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86200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Arial"/>
              </a:rPr>
              <a:t>A06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886200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Insecure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13B3B"/>
                </a:solidFill>
                <a:latin typeface="Consolas"/>
              </a:rPr>
              <a:t>#4  →  #6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886200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down two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398264"/>
            <a:ext cx="11183112" cy="51206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398264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Arial"/>
              </a:rPr>
              <a:t>A07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398264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Authentication Failures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398264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Consolas"/>
              </a:rPr>
              <a:t>#7  →  #7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398264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renamed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910328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Arial"/>
              </a:rPr>
              <a:t>A08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910328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Software or Data Integrity Failures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910328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Consolas"/>
              </a:rPr>
              <a:t>#8  →  #8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910328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unchanged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422392"/>
            <a:ext cx="11183112" cy="51206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422392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Arial"/>
              </a:rPr>
              <a:t>A09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422392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Security Logging &amp; Alerting Failures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422392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Consolas"/>
              </a:rPr>
              <a:t>#9  →  #9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422392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“Monitoring” → “Alerting”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34456"/>
            <a:ext cx="914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Arial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5934456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Mishandling of Exceptional Conditions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934456"/>
            <a:ext cx="1737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88A1A"/>
                </a:solidFill>
                <a:latin typeface="Consolas"/>
              </a:rPr>
              <a:t>NEW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934456"/>
            <a:ext cx="3200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brand new category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The next hour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0" cy="457200"/>
          </a:xfrm>
          <a:prstGeom prst="roundRect">
            <a:avLst/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72184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CEFF4"/>
                </a:solidFill>
                <a:latin typeface="Consolas"/>
              </a:rPr>
              <a:t>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17320"/>
            <a:ext cx="8229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Arial"/>
              </a:rPr>
              <a:t>Framing — how to think about all 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57984"/>
            <a:ext cx="100584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57984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Consolas"/>
              </a:rPr>
              <a:t>0:05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03120"/>
            <a:ext cx="8229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A01  Broken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10312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C4B6"/>
                </a:solidFill>
                <a:latin typeface="Arial"/>
              </a:rPr>
              <a:t>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43784"/>
            <a:ext cx="100584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43784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Consolas"/>
              </a:rPr>
              <a:t>0:13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788920"/>
            <a:ext cx="8229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A05 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78892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C4B6"/>
                </a:solidFill>
                <a:latin typeface="Arial"/>
              </a:rPr>
              <a:t>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29584"/>
            <a:ext cx="100584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29584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Consolas"/>
              </a:rPr>
              <a:t>0:21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74720"/>
            <a:ext cx="8229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A02  Security Misconfiguration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47472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C4B6"/>
                </a:solidFill>
                <a:latin typeface="Arial"/>
              </a:rPr>
              <a:t>LAB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15383"/>
            <a:ext cx="100584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15383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1B2E"/>
                </a:solidFill>
                <a:latin typeface="Consolas"/>
              </a:rPr>
              <a:t>0:29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160520"/>
            <a:ext cx="8229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A03  Software Supply Chain Failures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160520"/>
            <a:ext cx="1463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C4B6"/>
                </a:solidFill>
                <a:latin typeface="Arial"/>
              </a:rPr>
              <a:t>LAB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01183"/>
            <a:ext cx="1005840" cy="457200"/>
          </a:xfrm>
          <a:prstGeom prst="roundRect">
            <a:avLst/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01183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CEFF4"/>
                </a:solidFill>
                <a:latin typeface="Consolas"/>
              </a:rPr>
              <a:t>0:37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846320"/>
            <a:ext cx="8229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Arial"/>
              </a:rPr>
              <a:t>Rapid survey — A04, A06, A07, A08, A09, A10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586983"/>
            <a:ext cx="1005840" cy="457200"/>
          </a:xfrm>
          <a:prstGeom prst="roundRect">
            <a:avLst/>
          </a:prstGeom>
          <a:solidFill>
            <a:srgbClr val="1E2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586983"/>
            <a:ext cx="1005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CEFF4"/>
                </a:solidFill>
                <a:latin typeface="Consolas"/>
              </a:rPr>
              <a:t>0:55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532120"/>
            <a:ext cx="8229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Arial"/>
              </a:rPr>
              <a:t>What to do on Monday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C4B6"/>
                </a:solidFill>
                <a:latin typeface="Arial"/>
              </a:rPr>
              <a:t>A01:2025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Broken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#1 — unchanged. Found in nearly every app 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2833"/>
                </a:solidFill>
                <a:latin typeface="Arial"/>
              </a:rPr>
              <a:t>Enforcing that users can only do what they're allowed 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01168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6400800" cy="35661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62072"/>
            <a:ext cx="594360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terminal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Alice reads Carol's confidential invoice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just by changing the id in the URL.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.../vuln/a01/invoices/1004?as=alice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{"invoice":{"user_id":3,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  "memo":"SEVERANCE PAYMENT..."}}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The fixed route scopes the query to Alice: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.../safe/a01/invoices/1004?as=alice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EC4B6"/>
                </a:solidFill>
                <a:latin typeface="Consolas"/>
              </a:rPr>
              <a:t>HTTP 404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148840"/>
            <a:ext cx="2743200" cy="38404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WHAT'S HAPPENING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697480"/>
            <a:ext cx="4462272" cy="3566160"/>
          </a:xfrm>
          <a:prstGeom prst="round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880360"/>
            <a:ext cx="4023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IDOR: the record id comes from the request and is trusted — no ownership check.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Forced browsing: the admin page's only “protection” is that it isn't linked.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Client-side control: the UI hides the button; curl doesn't care.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7D32"/>
                </a:solidFill>
                <a:latin typeface="Arial"/>
              </a:rPr>
              <a:t>A01:2025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Broken Access Control — the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6400800" cy="4343400"/>
          </a:xfrm>
          <a:prstGeom prst="roundRect">
            <a:avLst/>
          </a:prstGeom>
          <a:solidFill>
            <a:srgbClr val="E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9436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Deny by default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for anything non-public.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Enforce ownership in the query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…AND user_id = ? — no path can forget it.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Check the role on the server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regardless of what the UI shows.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Reuse one mechanism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not a hand-rolled check per endpoint.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Return 404, not 403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a 403 confirms the id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25880"/>
            <a:ext cx="3108960" cy="384048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325880"/>
            <a:ext cx="3108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SPOT IT IN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874519"/>
            <a:ext cx="4462272" cy="4343400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0233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An id/filename from the request used to fetch a record with no ownership filter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Authorization logic that lives only in front-end code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if (user.isAdmin) in the template but not the handler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SSRF (now in A01): server fetches a user-supplied URL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C4B6"/>
                </a:solidFill>
                <a:latin typeface="Arial"/>
              </a:rPr>
              <a:t>A05:2025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#5 (was #3). Most CVEs of any category. XSS lives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2833"/>
                </a:solidFill>
                <a:latin typeface="Arial"/>
              </a:rPr>
              <a:t>Untrusted input reaches an interpreter as CODE instead of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01168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6400800" cy="35661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62072"/>
            <a:ext cx="594360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terminal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Log in as admin with no password: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.../vuln/a05/login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   -d "username=admin'--" -d pass=x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{"loggedIn":true,"user":"admin"}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Same payload, parameterised query: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.../safe/a05/login ...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EC4B6"/>
                </a:solidFill>
                <a:latin typeface="Consolas"/>
              </a:rPr>
              <a:t>{"loggedIn":false}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# Command injection: host=localhost;id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148840"/>
            <a:ext cx="2743200" cy="38404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WHAT'S HAPPENING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697480"/>
            <a:ext cx="4462272" cy="3566160"/>
          </a:xfrm>
          <a:prstGeom prst="round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880360"/>
            <a:ext cx="4023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SQL injection: the payload becomes part of the query's syntax.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UNION attacks read arbitrary tables (e.g. the password hashes).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OS command injection: a ; runs a second shell command.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XSS: input echoed into HTML runs as script in the victim's browser.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7D32"/>
                </a:solidFill>
                <a:latin typeface="Arial"/>
              </a:rPr>
              <a:t>A05:2025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Injection — the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6400800" cy="4343400"/>
          </a:xfrm>
          <a:prstGeom prst="roundRect">
            <a:avLst/>
          </a:prstGeom>
          <a:solidFill>
            <a:srgbClr val="E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9436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Parameterised queries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? placeholders — the #1 habit in this workshop.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No shell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execFile(cmd, [args]) not exec(string).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Positive (allow-list) validation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of shape, on the server.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Encode output for its context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escapeHtml for HTML — the fix for XSS.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Content-Security-Policy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as defence in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25880"/>
            <a:ext cx="3108960" cy="384048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325880"/>
            <a:ext cx="3108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SPOT IT IN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874519"/>
            <a:ext cx="4462272" cy="4343400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0233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SQL built with + , template literals, or .format()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exec(), system(), eval() with anything from a request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User input written into HTML without encoding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“We validate on the client” as the only defence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7D32"/>
                </a:solidFill>
                <a:latin typeface="Arial"/>
              </a:rPr>
              <a:t>A02:2025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Security Misconfiguration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▲ #5 → #2. 100% of tested apps had some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2833"/>
                </a:solidFill>
                <a:latin typeface="Arial"/>
              </a:rPr>
              <a:t>The code may be fine; the SETTINGS around it hand attackers a 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01168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6400800" cy="35661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62072"/>
            <a:ext cx="594360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terminal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Directory listing exposes a forgotten file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.../vuln/a02/files/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 .env.backup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.../vuln/a02/files/.env.backup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 STRIPE_KEY=sk_live_51Hxxxx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 DATABASE_URL=postgres://app:s3cr3t@...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An error returns a full stack trace: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.../vuln/a02/boom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 Error: db.internal:5432 refused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148840"/>
            <a:ext cx="2743200" cy="38404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WHAT'S HAPPENING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697480"/>
            <a:ext cx="4462272" cy="3566160"/>
          </a:xfrm>
          <a:prstGeom prst="round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880360"/>
            <a:ext cx="4023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Directory listing + a file nobody meant to ship = leaked secrets.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Verbose errors reveal internal hosts and component versions.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Default accounts and debug endpoints left enabled.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Cookies with no HttpOnly / Secure / SameSite.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7D32"/>
                </a:solidFill>
                <a:latin typeface="Arial"/>
              </a:rPr>
              <a:t>A02:2025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Security Misconfiguration — the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6400800" cy="4343400"/>
          </a:xfrm>
          <a:prstGeom prst="roundRect">
            <a:avLst/>
          </a:prstGeom>
          <a:solidFill>
            <a:srgbClr val="E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9436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Repeatable hardening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so every env ships locked down.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Serve only what you intend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no listing, no dotfiles.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No debug endpoints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in the deployed artifact.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Opaque errors out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detail to the log with a reference id.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Cookie attributes + security headers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HttpOnly/Secure/SameSite; helmet.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25880"/>
            <a:ext cx="3108960" cy="384048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325880"/>
            <a:ext cx="3108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SPOT IT IN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874519"/>
            <a:ext cx="4462272" cy="4343400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0233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dotfiles:'allow' or directory listing on a static mount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res.send(err.stack) or returning err.message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A /debug or /actuator endpoint with no auth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Cookies set with no options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88A1A"/>
                </a:solidFill>
                <a:latin typeface="Arial"/>
              </a:rPr>
              <a:t>A03:2025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Software Supply Chain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NEW scope · voted #1 concern in the survey.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2833"/>
                </a:solidFill>
                <a:latin typeface="Arial"/>
              </a:rPr>
              <a:t>You ship a lot of code you didn't write — and the pipeline that builds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01168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6400800" cy="35661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62072"/>
            <a:ext cx="594360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terminal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We declare 2 dependencies.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How many actually get installed?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.../vuln/a03/inventory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{"directDependencies":2,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  "packagesActuallyInstalled":  57,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  "transitiveMultiplier": 28.5}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npm audit          # known CVEs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npm run sbom       # bill of materials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EC4B6"/>
                </a:solidFill>
                <a:latin typeface="Consolas"/>
              </a:rPr>
              <a:t>$ npm ci  (not install)  in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148840"/>
            <a:ext cx="2743200" cy="384048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WHAT'S HAPPENING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697480"/>
            <a:ext cx="4462272" cy="3566160"/>
          </a:xfrm>
          <a:prstGeom prst="round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880360"/>
            <a:ext cx="4023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Expanded from 2021's “Vulnerable &amp; Outdated Components”.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Now covers dependencies AND their transitive deps, build systems, CI/CD, and tooling.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SolarWinds; Log4Shell; the 2025 Shai-Hulud npm worm (self-propagating via install scripts).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Arial"/>
              </a:rPr>
              <a:t>Fewest data occurrences, highest exploit + impact scores.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88A1A"/>
                </a:solidFill>
                <a:latin typeface="Arial"/>
              </a:rPr>
              <a:t>A03:2025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Software Supply Chain Failures — the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6400800" cy="4343400"/>
          </a:xfrm>
          <a:prstGeom prst="roundRect">
            <a:avLst/>
          </a:prstGeom>
          <a:solidFill>
            <a:srgbClr val="E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9436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Generate &amp; keep an SBOM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your “are we affected?” answer sheet.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Track transitive deps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not just the ones you named.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Commit the lockfile, use npm ci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installs exact, integrity-checked versions.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--ignore-scripts by default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install scripts spread the 2025 worm.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Pin Actions to a commit SHA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not a mutable @v4 tag.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•  </a:t>
            </a:r>
            <a:r>
              <a:rPr sz="1600" b="1">
                <a:solidFill>
                  <a:srgbClr val="222833"/>
                </a:solidFill>
                <a:latin typeface="Arial"/>
              </a:rPr>
              <a:t>Separation of duties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    no one writes + promotes unreviewed.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25880"/>
            <a:ext cx="3108960" cy="384048"/>
          </a:xfrm>
          <a:prstGeom prst="round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325880"/>
            <a:ext cx="3108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SPOT IT IN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874519"/>
            <a:ext cx="4462272" cy="4343400"/>
          </a:xfrm>
          <a:prstGeom prst="round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0233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npm install in CI or a Dockerfile (should be npm ci)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A missing or gitignored lockfile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GitHub Actions pinned to floating tags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D13B3B"/>
                </a:solidFill>
                <a:latin typeface="Arial"/>
              </a:rPr>
              <a:t>⚑  </a:t>
            </a:r>
            <a:r>
              <a:rPr sz="1450" b="0">
                <a:solidFill>
                  <a:srgbClr val="222833"/>
                </a:solidFill>
                <a:latin typeface="Arial"/>
              </a:rPr>
              <a:t>Security-critical dep on a caret range, no lockfile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0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Rapid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2EC4B6"/>
                </a:solidFill>
                <a:latin typeface="Arial"/>
              </a:rPr>
              <a:t>A04 · A06 · A07 · A08 · A09 · A10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ECEFF4"/>
                </a:solidFill>
                <a:latin typeface="Arial"/>
              </a:rPr>
              <a:t>One demo and one fix each. All six are full labs in the repo.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D13B3B"/>
                </a:solidFill>
                <a:latin typeface="Arial"/>
              </a:rPr>
              <a:t>A04:2025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Cryptographic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▼ #2 → #4. Weak randomness dominates.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2833"/>
                </a:solidFill>
                <a:latin typeface="Arial"/>
              </a:rPr>
              <a:t>Crypto that's absent, weak, unsalted, predictable, or unauthenticated.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01168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5486400" cy="35661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502920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try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reset tokens from Math.random():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.../vuln/a04/reset-token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{"token":"a1b2c3d4"}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unsalted MD5 — look it up, 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cracking needed: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21232f29...  = md5("admin")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AES-CBC w/o a MAC: attacker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rewrites "user" -&gt; "root",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# no key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651760"/>
            <a:ext cx="5330952" cy="3566160"/>
          </a:xfrm>
          <a:prstGeom prst="roundRect">
            <a:avLst/>
          </a:prstGeom>
          <a:solidFill>
            <a:srgbClr val="E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52928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crypto.randomBytes (a CSPRNG), never Math.random()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Store passwords with a salted, slow KDF (scrypt / argon2 / bcrypt)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Authenticated encryption (AES-GCM): tampering fails hard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TLS 1.2+ only; drop MD5 / SHA-1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D13B3B"/>
                </a:solidFill>
                <a:latin typeface="Arial"/>
              </a:rPr>
              <a:t>A06:2025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Insecure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▼ #4 → #6. A flaw in the plan, not the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2833"/>
                </a:solidFill>
                <a:latin typeface="Arial"/>
              </a:rPr>
              <a:t>Missing control DESIGN — you can't patch it in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01168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5486400" cy="35661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502920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try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'One per order' coupon, stacked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ten times — each use is valid: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.../vuln/a06/checkout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  -d coupons=[x10]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{"totalCents": 3487}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refund more than was ever paid;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'mother's maiden name' = Smith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#   -&gt; reset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651760"/>
            <a:ext cx="5330952" cy="3566160"/>
          </a:xfrm>
          <a:prstGeom prst="roundRect">
            <a:avLst/>
          </a:prstGeom>
          <a:solidFill>
            <a:srgbClr val="E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52928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State the rule, then enforce it server-side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Put invariants next to the operation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Threat-model the critical flows before building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Recovery via a channel the user controls — no security questions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A07:2025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Authentication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#7 — renamed. It's the stuff AROUND the password.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2833"/>
                </a:solidFill>
                <a:latin typeface="Arial"/>
              </a:rPr>
              <a:t>Weak throttling, no MFA, default creds, broken sessions, reused breaches.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01168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5486400" cy="35661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502920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try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node scripts/\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  credential-stuffing.js admin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 /vuln: got 'admin'  (default!)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EC4B6"/>
                </a:solidFill>
                <a:latin typeface="Consolas"/>
              </a:rPr>
              <a:t> /safe: locked out + blocked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session fixation: the id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attacker planted survives login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on /vuln — not on /safe.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651760"/>
            <a:ext cx="5330952" cy="3566160"/>
          </a:xfrm>
          <a:prstGeom prst="roundRect">
            <a:avLst/>
          </a:prstGeom>
          <a:solidFill>
            <a:srgbClr val="E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52928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MFA — OWASP's first prevention bullet here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No default credentials; block known-breached passwords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Rate-limit / lock out (per-account and per-IP)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Rotate the session id at every privilege change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A08:2025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Software or Data Integrity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#8 — the low-level cousin of A03.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2833"/>
                </a:solidFill>
                <a:latin typeface="Arial"/>
              </a:rPr>
              <a:t>Did this artifact / data really come from who I think, unaltered?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01168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5486400" cy="35661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502920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try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Prototype pollution: one request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makes EVERY object isAdmin.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.../vuln/a08/preferences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  -d '{"__proto__":{"isAdmin":1}}'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{"pollutedBystander":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  {"isAdmin":true}}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unsigned 'auto-update' applied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from any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651760"/>
            <a:ext cx="5330952" cy="3566160"/>
          </a:xfrm>
          <a:prstGeom prst="roundRect">
            <a:avLst/>
          </a:prstGeom>
          <a:solidFill>
            <a:srgbClr val="E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52928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Reject __proto__ / constructor; allow-list known keys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Verify a signature from the expected source first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Don't deserialize untrusted data into live objects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Review process + CI/CD segregation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A09:2025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Security Logging &amp; Alerting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#9 — “Monitoring” → “Alerting”.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2833"/>
                </a:solidFill>
                <a:latin typeface="Arial"/>
              </a:rPr>
              <a:t>Great logging with no ALERTING can't find an incident.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01168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5486400" cy="35661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502920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try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50 failed logins on /vuln...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.../vuln/a09/logs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 &lt;-- empty. No trace at 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log injection: a newline in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username forges a whole entry.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whole request bodies (with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# passwords) dumped to the 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651760"/>
            <a:ext cx="5330952" cy="3566160"/>
          </a:xfrm>
          <a:prstGeom prst="roundRect">
            <a:avLst/>
          </a:prstGeom>
          <a:solidFill>
            <a:srgbClr val="E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52928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Log every auth / access-control / validation failure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Structured (JSON) logging neutralises log injection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Redact secrets; never dump request bodies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Alert on thresholds — the half the rename points at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E88A1A"/>
                </a:solidFill>
                <a:latin typeface="Arial"/>
              </a:rPr>
              <a:t>A10:2025   </a:t>
            </a:r>
            <a:r>
              <a:rPr sz="2400" b="1">
                <a:solidFill>
                  <a:srgbClr val="FFFFFF"/>
                </a:solidFill>
                <a:latin typeface="Arial"/>
              </a:rPr>
              <a:t>Mishandling of Exceptional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Arial"/>
              </a:rPr>
              <a:t>BRAND NEW. What happens when things go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2833"/>
                </a:solidFill>
                <a:latin typeface="Arial"/>
              </a:rPr>
              <a:t>Failing OPEN, leaking internals, partial state when step 3 of 4 throws.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011680" cy="384048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BREAK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5486400" cy="3566160"/>
          </a:xfrm>
          <a:prstGeom prst="roundRect">
            <a:avLst/>
          </a:prstGeom>
          <a:solidFill>
            <a:srgbClr val="16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502920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8A9E"/>
                </a:solidFill>
                <a:latin typeface="Consolas"/>
              </a:rPr>
              <a:t>try 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authz service is down -&gt;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the catch block says 'yes':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$ curl -X POST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>  .../vuln/a10/admin-action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{"ranAdminAction":true}  # !!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D6E2F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non-atomic transfer: debit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8A99AD"/>
                </a:solidFill>
                <a:latin typeface="Consolas"/>
              </a:rPr>
              <a:t># succeeds, credit throws,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8B8B"/>
                </a:solidFill>
                <a:latin typeface="Consolas"/>
              </a:rPr>
              <a:t># money vanishes.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2011680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2011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651760"/>
            <a:ext cx="5330952" cy="3566160"/>
          </a:xfrm>
          <a:prstGeom prst="roundRect">
            <a:avLst/>
          </a:prstGeom>
          <a:solidFill>
            <a:srgbClr val="E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52928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Fail CLOSED — if 'may they?' is unknown, deny (503)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Catch errors where they happen; global handler as backstop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Opaque errors out, detail to the log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•  </a:t>
            </a:r>
            <a:r>
              <a:rPr sz="1500" b="0">
                <a:solidFill>
                  <a:srgbClr val="222833"/>
                </a:solidFill>
                <a:latin typeface="Arial"/>
              </a:rPr>
              <a:t>One transaction — roll back every step on failure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EC4B6"/>
                </a:solidFill>
                <a:latin typeface="Arial"/>
              </a:rPr>
              <a:t>   </a:t>
            </a:r>
            <a:r>
              <a:rPr sz="2400" b="1">
                <a:solidFill>
                  <a:srgbClr val="FFFFFF"/>
                </a:solidFill>
                <a:latin typeface="Arial"/>
              </a:rPr>
              <a:t>What to do on Monday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22833"/>
                </a:solidFill>
                <a:latin typeface="Arial"/>
              </a:rPr>
              <a:t>Pick one. Small and shipped beats big and someday.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128016" cy="9601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2057400"/>
            <a:ext cx="11055096" cy="96012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22833"/>
                </a:solidFill>
                <a:latin typeface="Arial"/>
              </a:rPr>
              <a:t>Turn on a linter rule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eslint-plugin-security or your language's equivalent catches injection and unsafe APIs for free.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63824"/>
            <a:ext cx="128016" cy="96012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" y="3163824"/>
            <a:ext cx="11055096" cy="96012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63824"/>
            <a:ext cx="10607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22833"/>
                </a:solidFill>
                <a:latin typeface="Arial"/>
              </a:rPr>
              <a:t>Commit a lockfile + npm ci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Pin your dependencies and switch CI off npm install. One PR, permanent A03 win.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70248"/>
            <a:ext cx="128016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4270248"/>
            <a:ext cx="11055096" cy="96012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70248"/>
            <a:ext cx="10607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22833"/>
                </a:solidFill>
                <a:latin typeface="Arial"/>
              </a:rPr>
              <a:t>Add a breached-password check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Have-I-Been-Pwned's k-anonymity API, on registration and password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376672"/>
            <a:ext cx="128016" cy="960120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" y="5376672"/>
            <a:ext cx="11055096" cy="96012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76672"/>
            <a:ext cx="10607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22833"/>
                </a:solidFill>
                <a:latin typeface="Arial"/>
              </a:rPr>
              <a:t>Use the review checklists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5B6372"/>
                </a:solidFill>
                <a:latin typeface="Arial"/>
              </a:rPr>
              <a:t>Each labs/aNN/README.md ends with “spot it in review”. Bring them to your next PR.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Take it further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2EC4B6"/>
                </a:solidFill>
                <a:latin typeface="Arial"/>
              </a:rPr>
              <a:t>The repo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CEFF4"/>
                </a:solidFill>
                <a:latin typeface="Arial"/>
              </a:rPr>
              <a:t>Ten full labs, 74 tests, exploit scripts, and a facilitator guide. Break every category, not just the four we covered.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>
                <a:solidFill>
                  <a:srgbClr val="ECEFF4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2EC4B6"/>
                </a:solidFill>
                <a:latin typeface="Arial"/>
              </a:rPr>
              <a:t>The source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CEFF4"/>
                </a:solidFill>
                <a:latin typeface="Arial"/>
              </a:rPr>
              <a:t>owasp.org/Top10/2025  — every category page has real stats, attack scenarios, and a full “How to Prevent” list.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>
                <a:solidFill>
                  <a:srgbClr val="ECEFF4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2EC4B6"/>
                </a:solidFill>
                <a:latin typeface="Arial"/>
              </a:rPr>
              <a:t>Beyond the Top 10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CEFF4"/>
                </a:solidFill>
                <a:latin typeface="Arial"/>
              </a:rPr>
              <a:t>OWASP ASVS (verification standard) · the OWASP Cheat Sheet Series · your language's secure-coding guide.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Security is a habit, not a phase. Thanks for the hour.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